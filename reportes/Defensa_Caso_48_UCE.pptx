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59436" cy="320040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7EDED2"/>
                </a:solidFill>
                <a:latin typeface="Aptos"/>
              </a:defRPr>
            </a:pPr>
            <a:r>
              <a:t>CASO / 48    ·    MINERÍA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961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Predicción de incumplimiento crediticio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9344"/>
            <a:ext cx="108813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BCD1DE"/>
                </a:solidFill>
                <a:latin typeface="Aptos"/>
              </a:defRPr>
            </a:pPr>
            <a:r>
              <a:t>Examen complexivo UCE · Cuatro modelos · Validación cruzada ·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3E5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74536"/>
            <a:ext cx="91440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B7CAD6"/>
                </a:solidFill>
                <a:latin typeface="Aptos"/>
              </a:defRPr>
            </a:pPr>
            <a:r>
              <a:t>UNIVERSIDAD CENTRAL DEL ECUADOR   ·   EVALUACIÓN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47104"/>
            <a:ext cx="64008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B7CAD6"/>
                </a:solidFill>
                <a:latin typeface="Aptos"/>
              </a:defRPr>
            </a:pPr>
            <a:r>
              <a:t>01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91440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79E3D0"/>
                </a:solidFill>
                <a:latin typeface="Aptos"/>
              </a:defRPr>
            </a:pPr>
            <a:r>
              <a:t>DE DATOS A EVIDENCIA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27248"/>
            <a:ext cx="9144000" cy="2194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50.000 solicitudes</a:t>
            </a:r>
            <a:br/>
            <a:r>
              <a:t>14 variables predictoras</a:t>
            </a:r>
            <a:br/>
            <a:r>
              <a:t>Evaluación independiente en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59436" cy="320040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1B877C"/>
                </a:solidFill>
                <a:latin typeface="Aptos"/>
              </a:defRPr>
            </a:pPr>
            <a:r>
              <a:t>CASO / 48    ·    MINERÍA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961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900" b="1">
                <a:solidFill>
                  <a:srgbClr val="1A3342"/>
                </a:solidFill>
                <a:latin typeface="Aptos"/>
              </a:defRPr>
            </a:pPr>
            <a:r>
              <a:t>¿Cuál es el problema?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9344"/>
            <a:ext cx="108813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697C86"/>
                </a:solidFill>
                <a:latin typeface="Aptos"/>
              </a:defRPr>
            </a:pPr>
            <a:r>
              <a:t>Predecir default_12m: 1 incumple en 12 meses; 0 no incumple.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F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74536"/>
            <a:ext cx="91440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97C86"/>
                </a:solidFill>
                <a:latin typeface="Aptos"/>
              </a:defRPr>
            </a:pPr>
            <a:r>
              <a:t>UNIVERSIDAD CENTRAL DEL ECUADOR   ·   EVALUACIÓN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47104"/>
            <a:ext cx="64008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97C86"/>
                </a:solidFill>
                <a:latin typeface="Aptos"/>
              </a:defRPr>
            </a:pPr>
            <a:r>
              <a:t>02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240280"/>
            <a:ext cx="73152" cy="438912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1A3342"/>
                </a:solidFill>
                <a:latin typeface="Aptos"/>
              </a:defRPr>
            </a:pPr>
            <a:r>
              <a:t>Aprendizaje supervisado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105156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300" b="0">
                <a:solidFill>
                  <a:srgbClr val="697C86"/>
                </a:solidFill>
                <a:latin typeface="Aptos"/>
              </a:defRPr>
            </a:pPr>
            <a:r>
              <a:t>Existe una variable objetivo etiquetada para cada solicitud.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337560"/>
            <a:ext cx="73152" cy="438912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91840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1A3342"/>
                </a:solidFill>
                <a:latin typeface="Aptos"/>
              </a:defRPr>
            </a:pPr>
            <a:r>
              <a:t>Clasificación binaria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30168"/>
            <a:ext cx="105156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300" b="0">
                <a:solidFill>
                  <a:srgbClr val="697C86"/>
                </a:solidFill>
                <a:latin typeface="Aptos"/>
              </a:defRPr>
            </a:pPr>
            <a:r>
              <a:t>La predicción es una clase, no un importe monetario.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34840"/>
            <a:ext cx="73152" cy="438912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89120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1A3342"/>
                </a:solidFill>
                <a:latin typeface="Aptos"/>
              </a:defRPr>
            </a:pPr>
            <a:r>
              <a:t>Restricción del examen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727448"/>
            <a:ext cx="105156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300" b="0">
                <a:solidFill>
                  <a:srgbClr val="697C86"/>
                </a:solidFill>
                <a:latin typeface="Aptos"/>
              </a:defRPr>
            </a:pPr>
            <a:r>
              <a:t>Seleccionar el modelo sin mirar TEST; reportar efectos de FP y FN.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59436" cy="320040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1B877C"/>
                </a:solidFill>
                <a:latin typeface="Aptos"/>
              </a:defRPr>
            </a:pPr>
            <a:r>
              <a:t>CASO / 48    ·    MINERÍA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961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900" b="1">
                <a:solidFill>
                  <a:srgbClr val="1A3342"/>
                </a:solidFill>
                <a:latin typeface="Aptos"/>
              </a:defRPr>
            </a:pPr>
            <a:r>
              <a:t>Inspección del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9344"/>
            <a:ext cx="108813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697C86"/>
                </a:solidFill>
                <a:latin typeface="Aptos"/>
              </a:defRPr>
            </a:pPr>
            <a:r>
              <a:t>CSV oficial del ejercicio · Fuente sintética y didáctica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F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74536"/>
            <a:ext cx="91440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97C86"/>
                </a:solidFill>
                <a:latin typeface="Aptos"/>
              </a:defRPr>
            </a:pPr>
            <a:r>
              <a:t>UNIVERSIDAD CENTRAL DEL ECUADOR   ·   EVALUACIÓN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47104"/>
            <a:ext cx="64008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97C86"/>
                </a:solidFill>
                <a:latin typeface="Aptos"/>
              </a:defRPr>
            </a:pPr>
            <a:r>
              <a:t>03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03120"/>
            <a:ext cx="3337560" cy="1143000"/>
          </a:xfrm>
          <a:prstGeom prst="roundRect">
            <a:avLst/>
          </a:prstGeom>
          <a:solidFill>
            <a:srgbClr val="EF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40279"/>
            <a:ext cx="2916936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700" b="1">
                <a:solidFill>
                  <a:srgbClr val="1B877C"/>
                </a:solidFill>
                <a:latin typeface="Aptos"/>
              </a:defRPr>
            </a:pPr>
            <a:r>
              <a:t>50.000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62072"/>
            <a:ext cx="2916936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0">
                <a:solidFill>
                  <a:srgbClr val="697C86"/>
                </a:solidFill>
                <a:latin typeface="Aptos"/>
              </a:defRPr>
            </a:pPr>
            <a:r>
              <a:t>Registros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103120"/>
            <a:ext cx="3337560" cy="1143000"/>
          </a:xfrm>
          <a:prstGeom prst="roundRect">
            <a:avLst/>
          </a:prstGeom>
          <a:solidFill>
            <a:srgbClr val="EF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240279"/>
            <a:ext cx="2916936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700" b="1">
                <a:solidFill>
                  <a:srgbClr val="1B877C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862072"/>
            <a:ext cx="2916936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0">
                <a:solidFill>
                  <a:srgbClr val="697C86"/>
                </a:solidFill>
                <a:latin typeface="Aptos"/>
              </a:defRPr>
            </a:pPr>
            <a:r>
              <a:t>Columnas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2103120"/>
            <a:ext cx="3337560" cy="1143000"/>
          </a:xfrm>
          <a:prstGeom prst="roundRect">
            <a:avLst/>
          </a:prstGeom>
          <a:solidFill>
            <a:srgbClr val="EF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2240279"/>
            <a:ext cx="2916936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700" b="1">
                <a:solidFill>
                  <a:srgbClr val="1B877C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862072"/>
            <a:ext cx="2916936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0">
                <a:solidFill>
                  <a:srgbClr val="697C86"/>
                </a:solidFill>
                <a:latin typeface="Aptos"/>
              </a:defRPr>
            </a:pPr>
            <a:r>
              <a:t>Nulos / duplicados</a:t>
            </a:r>
          </a:p>
        </p:txBody>
      </p:sp>
      <p:pic>
        <p:nvPicPr>
          <p:cNvPr id="19" name="Picture 18" descr="01_distrib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85032"/>
            <a:ext cx="987552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59436" cy="320040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1B877C"/>
                </a:solidFill>
                <a:latin typeface="Aptos"/>
              </a:defRPr>
            </a:pPr>
            <a:r>
              <a:t>CASO / 48    ·    MINERÍA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961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900" b="1">
                <a:solidFill>
                  <a:srgbClr val="1A3342"/>
                </a:solidFill>
                <a:latin typeface="Aptos"/>
              </a:defRPr>
            </a:pPr>
            <a:r>
              <a:t>El reto es el desbalance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9344"/>
            <a:ext cx="108813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697C86"/>
                </a:solidFill>
                <a:latin typeface="Aptos"/>
              </a:defRPr>
            </a:pPr>
            <a:r>
              <a:t>Solo el 5,48 % de los solicitantes tiene incumplimiento.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F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74536"/>
            <a:ext cx="91440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97C86"/>
                </a:solidFill>
                <a:latin typeface="Aptos"/>
              </a:defRPr>
            </a:pPr>
            <a:r>
              <a:t>UNIVERSIDAD CENTRAL DEL ECUADOR   ·   EVALUACIÓN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47104"/>
            <a:ext cx="64008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97C86"/>
                </a:solidFill>
                <a:latin typeface="Aptos"/>
              </a:defRPr>
            </a:pPr>
            <a:r>
              <a:t>04 / 13</a:t>
            </a:r>
          </a:p>
        </p:txBody>
      </p:sp>
      <p:pic>
        <p:nvPicPr>
          <p:cNvPr id="10" name="Picture 9" descr="01_distrib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011680"/>
            <a:ext cx="6400800" cy="2834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72400" y="2084831"/>
            <a:ext cx="3547872" cy="2880360"/>
          </a:xfrm>
          <a:prstGeom prst="roundRect">
            <a:avLst/>
          </a:prstGeom>
          <a:solidFill>
            <a:srgbClr val="FF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7" y="2487168"/>
            <a:ext cx="292608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3800" b="1">
                <a:solidFill>
                  <a:srgbClr val="96591D"/>
                </a:solidFill>
                <a:latin typeface="Aptos"/>
              </a:defRPr>
            </a:pPr>
            <a:r>
              <a:t>94,52 %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328416"/>
            <a:ext cx="2871216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1A3342"/>
                </a:solidFill>
                <a:latin typeface="Aptos"/>
              </a:defRPr>
            </a:pPr>
            <a:r>
              <a:t>Accuracy del modelo trivial</a:t>
            </a:r>
            <a:br/>
            <a:r>
              <a:t>que siempre predice «no incumple».</a:t>
            </a:r>
            <a:br/>
            <a:r>
              <a:t>Recall = 0 %.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59436" cy="320040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1B877C"/>
                </a:solidFill>
                <a:latin typeface="Aptos"/>
              </a:defRPr>
            </a:pPr>
            <a:r>
              <a:t>CASO / 48    ·    MINERÍA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961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900" b="1">
                <a:solidFill>
                  <a:srgbClr val="1A3342"/>
                </a:solidFill>
                <a:latin typeface="Aptos"/>
              </a:defRPr>
            </a:pPr>
            <a:r>
              <a:t>Metodología sin fuga de información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9344"/>
            <a:ext cx="108813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697C86"/>
                </a:solidFill>
                <a:latin typeface="Aptos"/>
              </a:defRPr>
            </a:pPr>
            <a:r>
              <a:t>Una secuencia reproducible con seed 42.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F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74536"/>
            <a:ext cx="91440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97C86"/>
                </a:solidFill>
                <a:latin typeface="Aptos"/>
              </a:defRPr>
            </a:pPr>
            <a:r>
              <a:t>UNIVERSIDAD CENTRAL DEL ECUADOR   ·   EVALUACIÓN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47104"/>
            <a:ext cx="64008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97C86"/>
                </a:solidFill>
                <a:latin typeface="Aptos"/>
              </a:defRPr>
            </a:pPr>
            <a:r>
              <a:t>05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57400"/>
            <a:ext cx="3456432" cy="1325880"/>
          </a:xfrm>
          <a:prstGeom prst="roundRect">
            <a:avLst/>
          </a:prstGeom>
          <a:solidFill>
            <a:srgbClr val="EE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167128"/>
            <a:ext cx="603504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100" b="1">
                <a:solidFill>
                  <a:srgbClr val="1B877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651760"/>
            <a:ext cx="3145536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A3342"/>
                </a:solidFill>
                <a:latin typeface="Aptos"/>
              </a:defRPr>
            </a:pPr>
            <a:r>
              <a:t>X/y, excluir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057400"/>
            <a:ext cx="3456432" cy="1325880"/>
          </a:xfrm>
          <a:prstGeom prst="roundRect">
            <a:avLst/>
          </a:prstGeom>
          <a:solidFill>
            <a:srgbClr val="EE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167128"/>
            <a:ext cx="603504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100" b="1">
                <a:solidFill>
                  <a:srgbClr val="1B877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651760"/>
            <a:ext cx="3145536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A3342"/>
                </a:solidFill>
                <a:latin typeface="Aptos"/>
              </a:defRPr>
            </a:pPr>
            <a:r>
              <a:t>80 % TRAIN / 20 %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057400"/>
            <a:ext cx="3456432" cy="1325880"/>
          </a:xfrm>
          <a:prstGeom prst="roundRect">
            <a:avLst/>
          </a:prstGeom>
          <a:solidFill>
            <a:srgbClr val="EE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2167128"/>
            <a:ext cx="603504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100" b="1">
                <a:solidFill>
                  <a:srgbClr val="1B877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651760"/>
            <a:ext cx="3145536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A3342"/>
                </a:solidFill>
                <a:latin typeface="Aptos"/>
              </a:defRPr>
            </a:pPr>
            <a:r>
              <a:t>Pipeline + One-Hot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39896"/>
            <a:ext cx="3456432" cy="1325880"/>
          </a:xfrm>
          <a:prstGeom prst="roundRect">
            <a:avLst/>
          </a:prstGeom>
          <a:solidFill>
            <a:srgbClr val="EE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3849624"/>
            <a:ext cx="603504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100" b="1">
                <a:solidFill>
                  <a:srgbClr val="1B877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334256"/>
            <a:ext cx="3145536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A3342"/>
                </a:solidFill>
                <a:latin typeface="Aptos"/>
              </a:defRPr>
            </a:pPr>
            <a:r>
              <a:t>StratifiedKFold(5)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739896"/>
            <a:ext cx="3456432" cy="1325880"/>
          </a:xfrm>
          <a:prstGeom prst="roundRect">
            <a:avLst/>
          </a:prstGeom>
          <a:solidFill>
            <a:srgbClr val="EE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3849624"/>
            <a:ext cx="603504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100" b="1">
                <a:solidFill>
                  <a:srgbClr val="1B877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4334256"/>
            <a:ext cx="3145536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A3342"/>
                </a:solidFill>
                <a:latin typeface="Aptos"/>
              </a:defRPr>
            </a:pPr>
            <a:r>
              <a:t>Selección por AP CV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739896"/>
            <a:ext cx="3456432" cy="1325880"/>
          </a:xfrm>
          <a:prstGeom prst="roundRect">
            <a:avLst/>
          </a:prstGeom>
          <a:solidFill>
            <a:srgbClr val="EE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1352" y="3849624"/>
            <a:ext cx="603504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100" b="1">
                <a:solidFill>
                  <a:srgbClr val="1B877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352" y="4334256"/>
            <a:ext cx="3145536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A3342"/>
                </a:solidFill>
                <a:latin typeface="Aptos"/>
              </a:defRPr>
            </a:pPr>
            <a:r>
              <a:t>Evaluación única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59436" cy="320040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1B877C"/>
                </a:solidFill>
                <a:latin typeface="Aptos"/>
              </a:defRPr>
            </a:pPr>
            <a:r>
              <a:t>CASO / 48    ·    MINERÍA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961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900" b="1">
                <a:solidFill>
                  <a:srgbClr val="1A3342"/>
                </a:solidFill>
                <a:latin typeface="Aptos"/>
              </a:defRPr>
            </a:pPr>
            <a:r>
              <a:t>Comparación de los cuatro algoritmos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9344"/>
            <a:ext cx="108813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697C86"/>
                </a:solidFill>
                <a:latin typeface="Aptos"/>
              </a:defRPr>
            </a:pPr>
            <a:r>
              <a:t>Resultado de la validación cruzada: PR-AUC como criterio principal.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F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74536"/>
            <a:ext cx="91440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97C86"/>
                </a:solidFill>
                <a:latin typeface="Aptos"/>
              </a:defRPr>
            </a:pPr>
            <a:r>
              <a:t>UNIVERSIDAD CENTRAL DEL ECUADOR   ·   EVALUACIÓN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47104"/>
            <a:ext cx="64008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97C86"/>
                </a:solidFill>
                <a:latin typeface="Aptos"/>
              </a:defRPr>
            </a:pPr>
            <a:r>
              <a:t>06 / 13</a:t>
            </a:r>
          </a:p>
        </p:txBody>
      </p:sp>
      <p:pic>
        <p:nvPicPr>
          <p:cNvPr id="10" name="Picture 9" descr="02_comparacion_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7498079" cy="37673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12480" y="2240280"/>
            <a:ext cx="2834640" cy="2304288"/>
          </a:xfrm>
          <a:prstGeom prst="roundRect">
            <a:avLst/>
          </a:prstGeom>
          <a:solidFill>
            <a:srgbClr val="EB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50808" y="2514600"/>
            <a:ext cx="2267712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1B877C"/>
                </a:solidFill>
                <a:latin typeface="Aptos"/>
              </a:defRPr>
            </a:pPr>
            <a:r>
              <a:t>GANADOR 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008376"/>
            <a:ext cx="2368296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200" b="1">
                <a:solidFill>
                  <a:srgbClr val="1A3342"/>
                </a:solidFill>
                <a:latin typeface="Aptos"/>
              </a:defRPr>
            </a:pPr>
            <a:r>
              <a:t>Gradient</a:t>
            </a:r>
            <a:br/>
            <a:r>
              <a:t>Boosting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59436" cy="320040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1B877C"/>
                </a:solidFill>
                <a:latin typeface="Aptos"/>
              </a:defRPr>
            </a:pPr>
            <a:r>
              <a:t>CASO / 48    ·    MINERÍA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961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900" b="1">
                <a:solidFill>
                  <a:srgbClr val="1A3342"/>
                </a:solidFill>
                <a:latin typeface="Aptos"/>
              </a:defRPr>
            </a:pPr>
            <a:r>
              <a:t>Curvas de los cuatro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9344"/>
            <a:ext cx="108813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697C86"/>
                </a:solidFill>
                <a:latin typeface="Aptos"/>
              </a:defRPr>
            </a:pPr>
            <a:r>
              <a:t>ROC y Precision-Recall fuera de fold: nunca se usa TEST para elegir.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F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74536"/>
            <a:ext cx="91440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97C86"/>
                </a:solidFill>
                <a:latin typeface="Aptos"/>
              </a:defRPr>
            </a:pPr>
            <a:r>
              <a:t>UNIVERSIDAD CENTRAL DEL ECUADOR   ·   EVALUACIÓN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47104"/>
            <a:ext cx="64008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97C86"/>
                </a:solidFill>
                <a:latin typeface="Aptos"/>
              </a:defRPr>
            </a:pPr>
            <a:r>
              <a:t>07 / 13</a:t>
            </a:r>
          </a:p>
        </p:txBody>
      </p:sp>
      <p:pic>
        <p:nvPicPr>
          <p:cNvPr id="10" name="Picture 9" descr="03_curvas_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20240"/>
            <a:ext cx="10863072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59436" cy="320040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1B877C"/>
                </a:solidFill>
                <a:latin typeface="Aptos"/>
              </a:defRPr>
            </a:pPr>
            <a:r>
              <a:t>CASO / 48    ·    MINERÍA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961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900" b="1">
                <a:solidFill>
                  <a:srgbClr val="1A3342"/>
                </a:solidFill>
                <a:latin typeface="Aptos"/>
              </a:defRPr>
            </a:pPr>
            <a:r>
              <a:t>La gran limitación del umbral 0,50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9344"/>
            <a:ext cx="108813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697C86"/>
                </a:solidFill>
                <a:latin typeface="Aptos"/>
              </a:defRPr>
            </a:pPr>
            <a:r>
              <a:t>Gradient Boosting gana por PR-AUC, pero su Recall a ese umbral es 0 %.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F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74536"/>
            <a:ext cx="91440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97C86"/>
                </a:solidFill>
                <a:latin typeface="Aptos"/>
              </a:defRPr>
            </a:pPr>
            <a:r>
              <a:t>UNIVERSIDAD CENTRAL DEL ECUADOR   ·   EVALUACIÓN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47104"/>
            <a:ext cx="64008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97C86"/>
                </a:solidFill>
                <a:latin typeface="Aptos"/>
              </a:defRPr>
            </a:pPr>
            <a:r>
              <a:t>08 / 13</a:t>
            </a:r>
          </a:p>
        </p:txBody>
      </p:sp>
      <p:pic>
        <p:nvPicPr>
          <p:cNvPr id="10" name="Picture 9" descr="05_umbral_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29968"/>
            <a:ext cx="7452360" cy="39502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39327" y="2276856"/>
            <a:ext cx="2971800" cy="2926080"/>
          </a:xfrm>
          <a:prstGeom prst="round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569464"/>
            <a:ext cx="23317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945B28"/>
                </a:solidFill>
                <a:latin typeface="Aptos"/>
              </a:defRPr>
            </a:pPr>
            <a:r>
              <a:t>TRAIN 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118104"/>
            <a:ext cx="2331720" cy="1508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800" b="1">
                <a:solidFill>
                  <a:srgbClr val="1A3342"/>
                </a:solidFill>
                <a:latin typeface="Aptos"/>
              </a:defRPr>
            </a:pPr>
            <a:r>
              <a:t>Cambiar el umbral altera el balance entre FP y FN.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59436" cy="320040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1B877C"/>
                </a:solidFill>
                <a:latin typeface="Aptos"/>
              </a:defRPr>
            </a:pPr>
            <a:r>
              <a:t>CASO / 48    ·    MINERÍA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961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900" b="1">
                <a:solidFill>
                  <a:srgbClr val="1A3342"/>
                </a:solidFill>
                <a:latin typeface="Aptos"/>
              </a:defRPr>
            </a:pPr>
            <a:r>
              <a:t>Punto 9: costo de equivocarse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9344"/>
            <a:ext cx="108813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697C86"/>
                </a:solidFill>
                <a:latin typeface="Aptos"/>
              </a:defRPr>
            </a:pPr>
            <a:r>
              <a:t>Supuestos en USD, NO pérdidas reales: FN = US$ 500 y FP = US$ 100 · TRAIN OOF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F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74536"/>
            <a:ext cx="91440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97C86"/>
                </a:solidFill>
                <a:latin typeface="Aptos"/>
              </a:defRPr>
            </a:pPr>
            <a:r>
              <a:t>UNIVERSIDAD CENTRAL DEL ECUADOR   ·   EVALUACIÓN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47104"/>
            <a:ext cx="64008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97C86"/>
                </a:solidFill>
                <a:latin typeface="Aptos"/>
              </a:defRPr>
            </a:pPr>
            <a:r>
              <a:t>09 / 13</a:t>
            </a:r>
          </a:p>
        </p:txBody>
      </p:sp>
      <p:pic>
        <p:nvPicPr>
          <p:cNvPr id="10" name="Picture 9" descr="07_escenarios_costo_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93392"/>
            <a:ext cx="7863840" cy="37490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732520" y="2212848"/>
            <a:ext cx="2606040" cy="3337560"/>
          </a:xfrm>
          <a:prstGeom prst="roundRect">
            <a:avLst/>
          </a:prstGeom>
          <a:solidFill>
            <a:srgbClr val="EE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514600"/>
            <a:ext cx="219456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1B877C"/>
                </a:solidFill>
                <a:latin typeface="Aptos"/>
              </a:defRPr>
            </a:pPr>
            <a:r>
              <a:t>GRADIENT BOOSTING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3017520"/>
            <a:ext cx="2057400" cy="1280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1A3342"/>
                </a:solidFill>
                <a:latin typeface="Aptos"/>
              </a:defRPr>
            </a:pPr>
            <a:r>
              <a:t>Umbral 0,15: US$ 1.082.700</a:t>
            </a:r>
            <a:br/>
            <a:r>
              <a:t>Umbral 0,50: US$ 1.097.000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4572000"/>
            <a:ext cx="20574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0">
                <a:solidFill>
                  <a:srgbClr val="697C86"/>
                </a:solidFill>
                <a:latin typeface="Aptos"/>
              </a:defRPr>
            </a:pPr>
            <a:r>
              <a:t>Costos ilustrativos, seleccion final por PR-AUC CV. TEST aislado.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59436" cy="320040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1B877C"/>
                </a:solidFill>
                <a:latin typeface="Aptos"/>
              </a:defRPr>
            </a:pPr>
            <a:r>
              <a:t>CASO / 48    ·    MINERÍA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961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900" b="1">
                <a:solidFill>
                  <a:srgbClr val="1A3342"/>
                </a:solidFill>
                <a:latin typeface="Aptos"/>
              </a:defRPr>
            </a:pPr>
            <a:r>
              <a:t>TEST: evaluación independiente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9344"/>
            <a:ext cx="108813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697C86"/>
                </a:solidFill>
                <a:latin typeface="Aptos"/>
              </a:defRPr>
            </a:pPr>
            <a:r>
              <a:t>10.000 solicitudes reservadas · 548 incumplimientos reales.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F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74536"/>
            <a:ext cx="91440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97C86"/>
                </a:solidFill>
                <a:latin typeface="Aptos"/>
              </a:defRPr>
            </a:pPr>
            <a:r>
              <a:t>UNIVERSIDAD CENTRAL DEL ECUADOR   ·   EVALUACIÓN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47104"/>
            <a:ext cx="64008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97C86"/>
                </a:solidFill>
                <a:latin typeface="Aptos"/>
              </a:defRPr>
            </a:pPr>
            <a:r>
              <a:t>10 / 13</a:t>
            </a:r>
          </a:p>
        </p:txBody>
      </p:sp>
      <p:pic>
        <p:nvPicPr>
          <p:cNvPr id="10" name="Picture 9" descr="04_matriz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02536"/>
            <a:ext cx="5989320" cy="40416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06640" y="2048256"/>
            <a:ext cx="3246120" cy="1143000"/>
          </a:xfrm>
          <a:prstGeom prst="roundRect">
            <a:avLst/>
          </a:prstGeom>
          <a:solidFill>
            <a:srgbClr val="EF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6952" y="2185416"/>
            <a:ext cx="2825496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700" b="1">
                <a:solidFill>
                  <a:srgbClr val="1B877C"/>
                </a:solidFill>
                <a:latin typeface="Aptos"/>
              </a:defRPr>
            </a:pPr>
            <a:r>
              <a:t>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2807208"/>
            <a:ext cx="2825496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0">
                <a:solidFill>
                  <a:srgbClr val="697C86"/>
                </a:solidFill>
                <a:latin typeface="Aptos"/>
              </a:defRPr>
            </a:pPr>
            <a:r>
              <a:t>Recall final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310128"/>
            <a:ext cx="3246120" cy="1143000"/>
          </a:xfrm>
          <a:prstGeom prst="roundRect">
            <a:avLst/>
          </a:prstGeom>
          <a:solidFill>
            <a:srgbClr val="EF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3447288"/>
            <a:ext cx="2825496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700" b="1">
                <a:solidFill>
                  <a:srgbClr val="1B877C"/>
                </a:solidFill>
                <a:latin typeface="Aptos"/>
              </a:defRPr>
            </a:pPr>
            <a:r>
              <a:t>12.03%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2" y="4069080"/>
            <a:ext cx="2825496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0">
                <a:solidFill>
                  <a:srgbClr val="697C86"/>
                </a:solidFill>
                <a:latin typeface="Aptos"/>
              </a:defRPr>
            </a:pPr>
            <a:r>
              <a:t>PR-AUC final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3246120" cy="1143000"/>
          </a:xfrm>
          <a:prstGeom prst="roundRect">
            <a:avLst/>
          </a:prstGeom>
          <a:solidFill>
            <a:srgbClr val="EF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4709160"/>
            <a:ext cx="2825496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700" b="1">
                <a:solidFill>
                  <a:srgbClr val="1B877C"/>
                </a:solidFill>
                <a:latin typeface="Aptos"/>
              </a:defRPr>
            </a:pPr>
            <a:r>
              <a:t>67.56%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5330952"/>
            <a:ext cx="2825496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0">
                <a:solidFill>
                  <a:srgbClr val="697C86"/>
                </a:solidFill>
                <a:latin typeface="Aptos"/>
              </a:defRPr>
            </a:pPr>
            <a:r>
              <a:t>ROC-AUC final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59436" cy="320040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1B877C"/>
                </a:solidFill>
                <a:latin typeface="Aptos"/>
              </a:defRPr>
            </a:pPr>
            <a:r>
              <a:t>CASO / 48    ·    MINERÍA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961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900" b="1">
                <a:solidFill>
                  <a:srgbClr val="1A3342"/>
                </a:solidFill>
                <a:latin typeface="Aptos"/>
              </a:defRPr>
            </a:pPr>
            <a:r>
              <a:t>¿Existe sobreajuste?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9344"/>
            <a:ext cx="108813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697C86"/>
                </a:solidFill>
                <a:latin typeface="Aptos"/>
              </a:defRPr>
            </a:pPr>
            <a:r>
              <a:t>La PR-AUC interna de entrenamiento supera ampliamente la de validación.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F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74536"/>
            <a:ext cx="91440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97C86"/>
                </a:solidFill>
                <a:latin typeface="Aptos"/>
              </a:defRPr>
            </a:pPr>
            <a:r>
              <a:t>UNIVERSIDAD CENTRAL DEL ECUADOR   ·   EVALUACIÓN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47104"/>
            <a:ext cx="64008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97C86"/>
                </a:solidFill>
                <a:latin typeface="Aptos"/>
              </a:defRPr>
            </a:pPr>
            <a:r>
              <a:t>11 / 13</a:t>
            </a:r>
          </a:p>
        </p:txBody>
      </p:sp>
      <p:pic>
        <p:nvPicPr>
          <p:cNvPr id="10" name="Picture 9" descr="06_cv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20824"/>
            <a:ext cx="8046720" cy="3611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78240" y="2468880"/>
            <a:ext cx="2560320" cy="2377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1A3342"/>
                </a:solidFill>
                <a:latin typeface="Aptos"/>
              </a:defRPr>
            </a:pPr>
            <a:r>
              <a:t>PR-AUC TRAIN interno: 23.87%</a:t>
            </a:r>
            <a:br/>
            <a:r>
              <a:t>PR-AUC media CV: 11.38%</a:t>
            </a:r>
            <a:br/>
            <a:r>
              <a:t>PR-AUC TEST: 12.03%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59436" cy="320040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1B877C"/>
                </a:solidFill>
                <a:latin typeface="Aptos"/>
              </a:defRPr>
            </a:pPr>
            <a:r>
              <a:t>CASO / 48    ·    MINERÍA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961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900" b="1">
                <a:solidFill>
                  <a:srgbClr val="1A3342"/>
                </a:solidFill>
                <a:latin typeface="Aptos"/>
              </a:defRPr>
            </a:pPr>
            <a:r>
              <a:t>Conclusión y uso responsable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9344"/>
            <a:ext cx="108813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697C86"/>
                </a:solidFill>
                <a:latin typeface="Aptos"/>
              </a:defRPr>
            </a:pPr>
            <a:r>
              <a:t>El proyecto cumple el protocolo; los límites importan tanto como las métricas.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F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74536"/>
            <a:ext cx="91440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97C86"/>
                </a:solidFill>
                <a:latin typeface="Aptos"/>
              </a:defRPr>
            </a:pPr>
            <a:r>
              <a:t>UNIVERSIDAD CENTRAL DEL ECUADOR   ·   EVALUACIÓN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47104"/>
            <a:ext cx="64008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97C86"/>
                </a:solidFill>
                <a:latin typeface="Aptos"/>
              </a:defRPr>
            </a:pPr>
            <a:r>
              <a:t>12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76272"/>
            <a:ext cx="73152" cy="438912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30552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1A3342"/>
                </a:solidFill>
                <a:latin typeface="Aptos"/>
              </a:defRPr>
            </a:pPr>
            <a:r>
              <a:t>Hallazgo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68879"/>
            <a:ext cx="105156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300" b="0">
                <a:solidFill>
                  <a:srgbClr val="697C86"/>
                </a:solidFill>
                <a:latin typeface="Aptos"/>
              </a:defRPr>
            </a:pPr>
            <a:r>
              <a:t>La capacidad de ranking es modesta; el umbral 0,50 no detectó positivos.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429000"/>
            <a:ext cx="73152" cy="438912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83280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1A3342"/>
                </a:solidFill>
                <a:latin typeface="Aptos"/>
              </a:defRPr>
            </a:pPr>
            <a:r>
              <a:t>Mejoras necesarias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21608"/>
            <a:ext cx="105156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300" b="0">
                <a:solidFill>
                  <a:srgbClr val="697C86"/>
                </a:solidFill>
                <a:latin typeface="Aptos"/>
              </a:defRPr>
            </a:pPr>
            <a:r>
              <a:t>Umbral definido con TRAIN/CV, calibración, costos de errores y validación externa.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681728"/>
            <a:ext cx="73152" cy="438912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636008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1A3342"/>
                </a:solidFill>
                <a:latin typeface="Aptos"/>
              </a:defRPr>
            </a:pPr>
            <a:r>
              <a:t>Límite de aplicación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974336"/>
            <a:ext cx="105156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300" b="0">
                <a:solidFill>
                  <a:srgbClr val="697C86"/>
                </a:solidFill>
                <a:latin typeface="Aptos"/>
              </a:defRPr>
            </a:pPr>
            <a:r>
              <a:t>Dataset sintético; no usar como aprobador o rechazador automático de crédito.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59436" cy="320040"/>
          </a:xfrm>
          <a:prstGeom prst="rect">
            <a:avLst/>
          </a:prstGeom>
          <a:solidFill>
            <a:srgbClr val="1B8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1B877C"/>
                </a:solidFill>
                <a:latin typeface="Aptos"/>
              </a:defRPr>
            </a:pPr>
            <a:r>
              <a:t>CASO / 48    ·    MINERÍA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961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900" b="1">
                <a:solidFill>
                  <a:srgbClr val="1A3342"/>
                </a:solidFill>
                <a:latin typeface="Aptos"/>
              </a:defRPr>
            </a:pPr>
            <a:r>
              <a:t>Preguntas que debes poder responder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9344"/>
            <a:ext cx="108813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697C86"/>
                </a:solidFill>
                <a:latin typeface="Aptos"/>
              </a:defRPr>
            </a:pPr>
            <a:r>
              <a:t>Guía breve para exponer sin depender de leer las diapositivas.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F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74536"/>
            <a:ext cx="91440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97C86"/>
                </a:solidFill>
                <a:latin typeface="Aptos"/>
              </a:defRPr>
            </a:pPr>
            <a:r>
              <a:t>UNIVERSIDAD CENTRAL DEL ECUADOR   ·   EVALUACIÓN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47104"/>
            <a:ext cx="64008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97C86"/>
                </a:solidFill>
                <a:latin typeface="Aptos"/>
              </a:defRPr>
            </a:pPr>
            <a:r>
              <a:t>13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29968"/>
            <a:ext cx="53949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B877C"/>
                </a:solidFill>
                <a:latin typeface="Aptos"/>
              </a:defRPr>
            </a:pPr>
            <a:r>
              <a:t>¿Por qué PR-AUC?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029968"/>
            <a:ext cx="521208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0">
                <a:solidFill>
                  <a:srgbClr val="1A3342"/>
                </a:solidFill>
                <a:latin typeface="Aptos"/>
              </a:defRPr>
            </a:pPr>
            <a:r>
              <a:t>Por el desbalance de 5,48 % positivos; accuracy engaña.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53949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B877C"/>
                </a:solidFill>
                <a:latin typeface="Aptos"/>
              </a:defRPr>
            </a:pPr>
            <a:r>
              <a:t>¿Qué es CV de 5 folds?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816352"/>
            <a:ext cx="521208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0">
                <a:solidFill>
                  <a:srgbClr val="1A3342"/>
                </a:solidFill>
                <a:latin typeface="Aptos"/>
              </a:defRPr>
            </a:pPr>
            <a:r>
              <a:t>Cinco entrenamientos con particiones estratificadas de TRAIN.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02736"/>
            <a:ext cx="53949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B877C"/>
                </a:solidFill>
                <a:latin typeface="Aptos"/>
              </a:defRPr>
            </a:pPr>
            <a:r>
              <a:t>¿Por qué no usaste TEST en la selección?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3602736"/>
            <a:ext cx="521208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0">
                <a:solidFill>
                  <a:srgbClr val="1A3342"/>
                </a:solidFill>
                <a:latin typeface="Aptos"/>
              </a:defRPr>
            </a:pPr>
            <a:r>
              <a:t>Evita optimismo y fuga de información al evaluar.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89120"/>
            <a:ext cx="53949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B877C"/>
                </a:solidFill>
                <a:latin typeface="Aptos"/>
              </a:defRPr>
            </a:pPr>
            <a:r>
              <a:t>¿Por qué Gradient Boosting si Recall es cero?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4389120"/>
            <a:ext cx="521208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0">
                <a:solidFill>
                  <a:srgbClr val="1A3342"/>
                </a:solidFill>
                <a:latin typeface="Aptos"/>
              </a:defRPr>
            </a:pPr>
            <a:r>
              <a:t>Fue el primero por AP CV; ranking ≠ detección al umbral 0,50.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75504"/>
            <a:ext cx="5394960" cy="2834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B877C"/>
                </a:solidFill>
                <a:latin typeface="Aptos"/>
              </a:defRPr>
            </a:pPr>
            <a:r>
              <a:t>¿Cuál es el siguiente paso?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5175504"/>
            <a:ext cx="521208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0">
                <a:solidFill>
                  <a:srgbClr val="1A3342"/>
                </a:solidFill>
                <a:latin typeface="Aptos"/>
              </a:defRPr>
            </a:pPr>
            <a:r>
              <a:t>Definir y validar umbral solo en TRAIN; probar en otro test independiente.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