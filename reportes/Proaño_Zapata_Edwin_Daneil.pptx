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2EE98-62F2-4494-B678-B2A83FD62129}" type="datetimeFigureOut">
              <a:rPr lang="es-MX" smtClean="0"/>
              <a:t>25/10/2026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EF114-A5B5-4063-B4B5-BFF6A5E98DE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4027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EF114-A5B5-4063-B4B5-BFF6A5E98DEB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4002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anodaniel10.github.io/Caso-1-Riesgo-Crediticio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4A824FC3-F0BD-E492-257E-376A50750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834" y="787352"/>
            <a:ext cx="4633616" cy="463361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81160" y="3941063"/>
            <a:ext cx="4251960" cy="4251960"/>
          </a:xfrm>
          <a:prstGeom prst="ellipse">
            <a:avLst/>
          </a:prstGeom>
          <a:solidFill>
            <a:srgbClr val="173855"/>
          </a:solidFill>
          <a:ln w="9525">
            <a:solidFill>
              <a:srgbClr val="265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1645920"/>
            <a:ext cx="4480560" cy="4480560"/>
          </a:xfrm>
          <a:prstGeom prst="ellipse">
            <a:avLst/>
          </a:prstGeom>
          <a:solidFill>
            <a:srgbClr val="17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442448" y="182880"/>
            <a:ext cx="2286000" cy="310896"/>
          </a:xfrm>
          <a:prstGeom prst="rect">
            <a:avLst/>
          </a:prstGeom>
          <a:solidFill>
            <a:srgbClr val="21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884224"/>
            <a:ext cx="3392843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dirty="0">
                <a:solidFill>
                  <a:srgbClr val="FFFFFF"/>
                </a:solidFill>
                <a:latin typeface="Calibri"/>
              </a:rPr>
              <a:t>UNIVERSIDAD CENTRAL DEL ECUADOR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230914"/>
            <a:ext cx="3048895" cy="23852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C9D7E5"/>
                </a:solidFill>
                <a:latin typeface="Calibri"/>
              </a:rPr>
              <a:t>Facultad</a:t>
            </a:r>
            <a:r>
              <a:rPr sz="1300" b="0" dirty="0">
                <a:solidFill>
                  <a:srgbClr val="C9D7E5"/>
                </a:solidFill>
                <a:latin typeface="Calibri"/>
              </a:rPr>
              <a:t> de </a:t>
            </a:r>
            <a:r>
              <a:rPr sz="1300" b="0" dirty="0" err="1">
                <a:solidFill>
                  <a:srgbClr val="C9D7E5"/>
                </a:solidFill>
                <a:latin typeface="Calibri"/>
              </a:rPr>
              <a:t>Ingeniería</a:t>
            </a:r>
            <a:r>
              <a:rPr sz="1300" b="0" dirty="0">
                <a:solidFill>
                  <a:srgbClr val="C9D7E5"/>
                </a:solidFill>
                <a:latin typeface="Calibri"/>
              </a:rPr>
              <a:t> y </a:t>
            </a:r>
            <a:r>
              <a:rPr sz="1300" b="0" dirty="0" err="1">
                <a:solidFill>
                  <a:srgbClr val="C9D7E5"/>
                </a:solidFill>
                <a:latin typeface="Calibri"/>
              </a:rPr>
              <a:t>Ciencias</a:t>
            </a:r>
            <a:r>
              <a:rPr sz="1300" b="0" dirty="0">
                <a:solidFill>
                  <a:srgbClr val="C9D7E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C9D7E5"/>
                </a:solidFill>
                <a:latin typeface="Calibri"/>
              </a:rPr>
              <a:t>Aplicadas</a:t>
            </a:r>
            <a:endParaRPr sz="1300" b="0" dirty="0">
              <a:solidFill>
                <a:srgbClr val="C9D7E5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1496872"/>
            <a:ext cx="3569012" cy="23852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C9D7E5"/>
                </a:solidFill>
                <a:latin typeface="Calibri"/>
              </a:rPr>
              <a:t>Carrera de </a:t>
            </a:r>
            <a:r>
              <a:rPr sz="1300" b="0" dirty="0" err="1">
                <a:solidFill>
                  <a:srgbClr val="C9D7E5"/>
                </a:solidFill>
                <a:latin typeface="Calibri"/>
              </a:rPr>
              <a:t>Ingeniería</a:t>
            </a:r>
            <a:r>
              <a:rPr sz="1300" b="0" dirty="0">
                <a:solidFill>
                  <a:srgbClr val="C9D7E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C9D7E5"/>
                </a:solidFill>
                <a:latin typeface="Calibri"/>
              </a:rPr>
              <a:t>en</a:t>
            </a:r>
            <a:r>
              <a:rPr sz="1300" b="0" dirty="0">
                <a:solidFill>
                  <a:srgbClr val="C9D7E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C9D7E5"/>
                </a:solidFill>
                <a:latin typeface="Calibri"/>
              </a:rPr>
              <a:t>Sistemas</a:t>
            </a:r>
            <a:r>
              <a:rPr sz="1300" b="0" dirty="0">
                <a:solidFill>
                  <a:srgbClr val="C9D7E5"/>
                </a:solidFill>
                <a:latin typeface="Calibri"/>
              </a:rPr>
              <a:t> de </a:t>
            </a:r>
            <a:r>
              <a:rPr sz="1300" b="0" dirty="0" err="1">
                <a:solidFill>
                  <a:srgbClr val="C9D7E5"/>
                </a:solidFill>
                <a:latin typeface="Calibri"/>
              </a:rPr>
              <a:t>Información</a:t>
            </a:r>
            <a:endParaRPr sz="1300" b="0" dirty="0">
              <a:solidFill>
                <a:srgbClr val="C9D7E5"/>
              </a:solidFill>
              <a:latin typeface="Calibri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50686" y="2232981"/>
            <a:ext cx="1106423" cy="0"/>
          </a:xfrm>
          <a:prstGeom prst="line">
            <a:avLst/>
          </a:prstGeom>
          <a:ln w="57150">
            <a:solidFill>
              <a:srgbClr val="60D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8096" y="2459690"/>
            <a:ext cx="3720014" cy="2385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dirty="0">
                <a:solidFill>
                  <a:srgbClr val="60D8CA"/>
                </a:solidFill>
                <a:latin typeface="Calibri"/>
              </a:rPr>
              <a:t>CASO PRÁCTICO</a:t>
            </a:r>
            <a:r>
              <a:rPr lang="es-MX" sz="1310" b="1" dirty="0">
                <a:solidFill>
                  <a:srgbClr val="60D8CA"/>
                </a:solidFill>
                <a:latin typeface="Calibri"/>
              </a:rPr>
              <a:t> 1</a:t>
            </a:r>
            <a:r>
              <a:rPr sz="1310" b="1" dirty="0">
                <a:solidFill>
                  <a:srgbClr val="60D8CA"/>
                </a:solidFill>
                <a:latin typeface="Calibri"/>
              </a:rPr>
              <a:t>  ·  CLASIFICACIÓN SUPERVISADA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924925"/>
            <a:ext cx="3915225" cy="18360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dirty="0" err="1">
                <a:solidFill>
                  <a:srgbClr val="FFFFFF"/>
                </a:solidFill>
                <a:latin typeface="Calibri"/>
              </a:rPr>
              <a:t>Predicción</a:t>
            </a:r>
            <a:r>
              <a:rPr sz="3900" b="1" dirty="0">
                <a:solidFill>
                  <a:srgbClr val="FFFFFF"/>
                </a:solidFill>
                <a:latin typeface="Calibri"/>
              </a:rPr>
              <a:t> de</a:t>
            </a:r>
          </a:p>
          <a:p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dirty="0" err="1">
                <a:solidFill>
                  <a:srgbClr val="FFFFFF"/>
                </a:solidFill>
                <a:latin typeface="Calibri"/>
              </a:rPr>
              <a:t>incumplimiento</a:t>
            </a:r>
            <a:endParaRPr sz="3900" b="1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dirty="0" err="1">
                <a:solidFill>
                  <a:srgbClr val="FFFFFF"/>
                </a:solidFill>
                <a:latin typeface="Calibri"/>
              </a:rPr>
              <a:t>crediticio</a:t>
            </a:r>
            <a:endParaRPr sz="3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96" y="5084064"/>
            <a:ext cx="91440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D3DFEA"/>
                </a:solidFill>
                <a:latin typeface="Calibri"/>
              </a:rPr>
              <a:t>Minería de Datos  |  Evaluación de modelos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096" y="5879592"/>
            <a:ext cx="10634472" cy="0"/>
          </a:xfrm>
          <a:prstGeom prst="line">
            <a:avLst/>
          </a:prstGeom>
          <a:ln w="11430">
            <a:solidFill>
              <a:srgbClr val="5470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6">
            <a:extLst>
              <a:ext uri="{FF2B5EF4-FFF2-40B4-BE49-F238E27FC236}">
                <a16:creationId xmlns:a16="http://schemas.microsoft.com/office/drawing/2014/main" id="{2DA9A633-C8AF-A9FB-2887-A9D7509D1248}"/>
              </a:ext>
            </a:extLst>
          </p:cNvPr>
          <p:cNvSpPr txBox="1"/>
          <p:nvPr/>
        </p:nvSpPr>
        <p:spPr>
          <a:xfrm>
            <a:off x="768096" y="6074282"/>
            <a:ext cx="4572000" cy="1554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597087"/>
                </a:solidFill>
                <a:latin typeface="Calibri"/>
              </a:rPr>
              <a:t>UCE  ·  MINERÍA DE DATOS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275BB6E8-0FD2-310E-0E80-27584CC836BA}"/>
              </a:ext>
            </a:extLst>
          </p:cNvPr>
          <p:cNvSpPr txBox="1"/>
          <p:nvPr/>
        </p:nvSpPr>
        <p:spPr>
          <a:xfrm>
            <a:off x="5428168" y="6060618"/>
            <a:ext cx="3739658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2000" b="1" dirty="0">
                <a:solidFill>
                  <a:srgbClr val="597087"/>
                </a:solidFill>
                <a:latin typeface="Calibri"/>
              </a:rPr>
              <a:t>Autor: Edwin Daniel Proaño Zapata</a:t>
            </a:r>
            <a:endParaRPr sz="2000" b="1" dirty="0">
              <a:solidFill>
                <a:srgbClr val="59708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47472"/>
            <a:ext cx="10058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0F9D91"/>
                </a:solidFill>
                <a:latin typeface="Calibri"/>
              </a:rPr>
              <a:t>PRESENTACIÓN DEL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243D"/>
                </a:solidFill>
                <a:latin typeface="Calibri"/>
              </a:rPr>
              <a:t>Introducción al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79576"/>
            <a:ext cx="109728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597087"/>
                </a:solidFill>
                <a:latin typeface="Calibri"/>
              </a:rPr>
              <a:t>Motivación, propósito y datos utilizados como punto de partida.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55080"/>
            <a:ext cx="10981944" cy="0"/>
          </a:xfrm>
          <a:prstGeom prst="line">
            <a:avLst/>
          </a:prstGeom>
          <a:ln w="1016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455664"/>
            <a:ext cx="4572000" cy="1554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597087"/>
                </a:solidFill>
                <a:latin typeface="Calibri"/>
              </a:rPr>
              <a:t>UCE  ·  MINERÍA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43616" y="6443776"/>
            <a:ext cx="9144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97087"/>
                </a:solidFill>
                <a:latin typeface="Calibri"/>
              </a:rPr>
              <a:t>02 /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09344"/>
            <a:ext cx="5413248" cy="2267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609344"/>
            <a:ext cx="91440" cy="2267712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4791456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9D91"/>
                </a:solidFill>
                <a:latin typeface="Calibri"/>
              </a:rPr>
              <a:t>01  ·  ¿POR QUÉ SE REALIZÓ?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67712"/>
            <a:ext cx="4754880" cy="1316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dirty="0">
                <a:solidFill>
                  <a:srgbClr val="10243D"/>
                </a:solidFill>
                <a:latin typeface="Calibri"/>
              </a:rPr>
              <a:t>Para </a:t>
            </a:r>
            <a:r>
              <a:rPr sz="1820" b="1" dirty="0" err="1">
                <a:solidFill>
                  <a:srgbClr val="10243D"/>
                </a:solidFill>
                <a:latin typeface="Calibri"/>
              </a:rPr>
              <a:t>apoyar</a:t>
            </a:r>
            <a:r>
              <a:rPr sz="1820" b="1" dirty="0">
                <a:solidFill>
                  <a:srgbClr val="10243D"/>
                </a:solidFill>
                <a:latin typeface="Calibri"/>
              </a:rPr>
              <a:t> </a:t>
            </a:r>
            <a:r>
              <a:rPr sz="1820" b="1" dirty="0" err="1">
                <a:solidFill>
                  <a:srgbClr val="10243D"/>
                </a:solidFill>
                <a:latin typeface="Calibri"/>
              </a:rPr>
              <a:t>el</a:t>
            </a:r>
            <a:r>
              <a:rPr sz="1820" b="1" dirty="0">
                <a:solidFill>
                  <a:srgbClr val="10243D"/>
                </a:solidFill>
                <a:latin typeface="Calibri"/>
              </a:rPr>
              <a:t> </a:t>
            </a:r>
            <a:r>
              <a:rPr sz="1820" b="1" dirty="0" err="1">
                <a:solidFill>
                  <a:srgbClr val="10243D"/>
                </a:solidFill>
                <a:latin typeface="Calibri"/>
              </a:rPr>
              <a:t>análisis</a:t>
            </a:r>
            <a:r>
              <a:rPr sz="1820" b="1" dirty="0">
                <a:solidFill>
                  <a:srgbClr val="10243D"/>
                </a:solidFill>
                <a:latin typeface="Calibri"/>
              </a:rPr>
              <a:t> de solicitudes de </a:t>
            </a:r>
            <a:r>
              <a:rPr sz="1820" b="1" dirty="0" err="1">
                <a:solidFill>
                  <a:srgbClr val="10243D"/>
                </a:solidFill>
                <a:latin typeface="Calibri"/>
              </a:rPr>
              <a:t>crédito</a:t>
            </a:r>
            <a:r>
              <a:rPr sz="1820" b="1" dirty="0">
                <a:solidFill>
                  <a:srgbClr val="10243D"/>
                </a:solidFill>
                <a:latin typeface="Calibri"/>
              </a:rPr>
              <a:t> y, con fines </a:t>
            </a:r>
            <a:r>
              <a:rPr sz="1820" b="1" dirty="0" err="1">
                <a:solidFill>
                  <a:srgbClr val="10243D"/>
                </a:solidFill>
                <a:latin typeface="Calibri"/>
              </a:rPr>
              <a:t>académicos</a:t>
            </a:r>
            <a:r>
              <a:rPr sz="1820" b="1" dirty="0">
                <a:solidFill>
                  <a:srgbClr val="10243D"/>
                </a:solidFill>
                <a:latin typeface="Calibri"/>
              </a:rPr>
              <a:t>, </a:t>
            </a:r>
            <a:r>
              <a:rPr sz="1820" b="1" dirty="0" err="1">
                <a:solidFill>
                  <a:srgbClr val="10243D"/>
                </a:solidFill>
                <a:latin typeface="Calibri"/>
              </a:rPr>
              <a:t>comparar</a:t>
            </a:r>
            <a:r>
              <a:rPr sz="1820" b="1" dirty="0">
                <a:solidFill>
                  <a:srgbClr val="10243D"/>
                </a:solidFill>
                <a:latin typeface="Calibri"/>
              </a:rPr>
              <a:t> </a:t>
            </a:r>
            <a:r>
              <a:rPr sz="1820" b="1" dirty="0" err="1">
                <a:solidFill>
                  <a:srgbClr val="10243D"/>
                </a:solidFill>
                <a:latin typeface="Calibri"/>
              </a:rPr>
              <a:t>algoritmos</a:t>
            </a:r>
            <a:r>
              <a:rPr sz="1820" b="1" dirty="0">
                <a:solidFill>
                  <a:srgbClr val="10243D"/>
                </a:solidFill>
                <a:latin typeface="Calibri"/>
              </a:rPr>
              <a:t> de </a:t>
            </a:r>
            <a:r>
              <a:rPr sz="1820" b="1" dirty="0" err="1">
                <a:solidFill>
                  <a:srgbClr val="10243D"/>
                </a:solidFill>
                <a:latin typeface="Calibri"/>
              </a:rPr>
              <a:t>clasificación</a:t>
            </a:r>
            <a:r>
              <a:rPr sz="1820" b="1" dirty="0">
                <a:solidFill>
                  <a:srgbClr val="10243D"/>
                </a:solidFill>
                <a:latin typeface="Calibri"/>
              </a:rPr>
              <a:t> y </a:t>
            </a:r>
            <a:r>
              <a:rPr sz="1820" b="1" dirty="0" err="1">
                <a:solidFill>
                  <a:srgbClr val="10243D"/>
                </a:solidFill>
                <a:latin typeface="Calibri"/>
              </a:rPr>
              <a:t>estudiar</a:t>
            </a:r>
            <a:r>
              <a:rPr sz="1820" b="1" dirty="0">
                <a:solidFill>
                  <a:srgbClr val="10243D"/>
                </a:solidFill>
                <a:latin typeface="Calibri"/>
              </a:rPr>
              <a:t> </a:t>
            </a:r>
            <a:r>
              <a:rPr sz="1820" b="1" dirty="0" err="1">
                <a:solidFill>
                  <a:srgbClr val="10243D"/>
                </a:solidFill>
                <a:latin typeface="Calibri"/>
              </a:rPr>
              <a:t>el</a:t>
            </a:r>
            <a:r>
              <a:rPr sz="1820" b="1" dirty="0">
                <a:solidFill>
                  <a:srgbClr val="10243D"/>
                </a:solidFill>
                <a:latin typeface="Calibri"/>
              </a:rPr>
              <a:t> </a:t>
            </a:r>
            <a:r>
              <a:rPr sz="1820" b="1" dirty="0" err="1">
                <a:solidFill>
                  <a:srgbClr val="10243D"/>
                </a:solidFill>
                <a:latin typeface="Calibri"/>
              </a:rPr>
              <a:t>impacto</a:t>
            </a:r>
            <a:r>
              <a:rPr sz="1820" b="1" dirty="0">
                <a:solidFill>
                  <a:srgbClr val="10243D"/>
                </a:solidFill>
                <a:latin typeface="Calibri"/>
              </a:rPr>
              <a:t> de sus </a:t>
            </a:r>
            <a:r>
              <a:rPr sz="1820" b="1" dirty="0" err="1">
                <a:solidFill>
                  <a:srgbClr val="10243D"/>
                </a:solidFill>
                <a:latin typeface="Calibri"/>
              </a:rPr>
              <a:t>errores</a:t>
            </a:r>
            <a:r>
              <a:rPr sz="1820" b="1" dirty="0">
                <a:solidFill>
                  <a:srgbClr val="10243D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609344"/>
            <a:ext cx="5404104" cy="2267712"/>
          </a:xfrm>
          <a:prstGeom prst="roundRect">
            <a:avLst/>
          </a:prstGeom>
          <a:solidFill>
            <a:srgbClr val="EDF3FB"/>
          </a:solidFill>
          <a:ln w="1016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3056" y="1609344"/>
            <a:ext cx="91440" cy="2267712"/>
          </a:xfrm>
          <a:prstGeom prst="rect">
            <a:avLst/>
          </a:prstGeom>
          <a:solidFill>
            <a:srgbClr val="17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1828800"/>
            <a:ext cx="473659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9D91"/>
                </a:solidFill>
                <a:latin typeface="Calibri"/>
              </a:rPr>
              <a:t>02  ·  ¿DE QUÉ TRATA?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199996"/>
            <a:ext cx="4700016" cy="1219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s-MX" b="1" dirty="0"/>
              <a:t>Entrenar y comparar cuatro modelos de clasificación supervisada para analizar cuál ofrece mejor desempeño y cómo influyen los errores de clasificación.</a:t>
            </a:r>
            <a:endParaRPr lang="es-MX" b="1" dirty="0">
              <a:solidFill>
                <a:srgbClr val="10243D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" y="4096512"/>
            <a:ext cx="10945368" cy="2029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" y="4096512"/>
            <a:ext cx="10945368" cy="438912"/>
          </a:xfrm>
          <a:prstGeom prst="roundRect">
            <a:avLst/>
          </a:prstGeom>
          <a:solidFill>
            <a:srgbClr val="1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192524"/>
            <a:ext cx="102412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03  ·  ¿QUÉ DATOS TENÍAMOS COMO PUNTO DE PARTIDA?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" y="4709160"/>
            <a:ext cx="4626864" cy="402336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786884"/>
            <a:ext cx="4352544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10243D"/>
                </a:solidFill>
                <a:latin typeface="Calibri"/>
              </a:rPr>
              <a:t>riesgo_crediticio_bigdata.csv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3016" y="4704588"/>
            <a:ext cx="1901952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>
                <a:solidFill>
                  <a:srgbClr val="0F9D91"/>
                </a:solidFill>
                <a:latin typeface="Calibri"/>
              </a:rPr>
              <a:t>16 VARIABLES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4759452"/>
            <a:ext cx="358444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7283C"/>
                </a:solidFill>
                <a:latin typeface="Calibri"/>
              </a:rPr>
              <a:t>14 predictoras  ·  1 identificador  ·  1 objetivo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5312664"/>
            <a:ext cx="104424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17283C"/>
                </a:solidFill>
                <a:latin typeface="Calibri"/>
              </a:rPr>
              <a:t>Edad, ingresos, empleo, vivienda, monto y plazo, deudas, pagos atrasados, ahorros y otras características.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650992"/>
            <a:ext cx="104698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597087"/>
                </a:solidFill>
                <a:latin typeface="Calibri"/>
              </a:rPr>
              <a:t>Los datos son sintéticos y se generaron exclusivamente con fines didácticos.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47472"/>
            <a:ext cx="10058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0F9D91"/>
                </a:solidFill>
                <a:latin typeface="Calibri"/>
              </a:rPr>
              <a:t>PROPÓSITO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243D"/>
                </a:solidFill>
                <a:latin typeface="Calibri"/>
              </a:rPr>
              <a:t>Objetivo y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79576"/>
            <a:ext cx="109728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597087"/>
                </a:solidFill>
                <a:latin typeface="Calibri"/>
              </a:rPr>
              <a:t>El objetivo se centra en la variable binaria default_12m.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55080"/>
            <a:ext cx="10981944" cy="0"/>
          </a:xfrm>
          <a:prstGeom prst="line">
            <a:avLst/>
          </a:prstGeom>
          <a:ln w="1143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455664"/>
            <a:ext cx="4572000" cy="1554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597087"/>
                </a:solidFill>
                <a:latin typeface="Calibri"/>
              </a:rPr>
              <a:t>UCE  ·  MINERÍA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43616" y="6443776"/>
            <a:ext cx="9144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97087"/>
                </a:solidFill>
                <a:latin typeface="Calibri"/>
              </a:rPr>
              <a:t>02 /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18488"/>
            <a:ext cx="6967728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2001794"/>
            <a:ext cx="91440" cy="2632401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883664"/>
            <a:ext cx="5961888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F9D91"/>
                </a:solidFill>
                <a:latin typeface="Calibri"/>
              </a:rPr>
              <a:t>OBJETIVO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23160"/>
            <a:ext cx="6263640" cy="12161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dirty="0" err="1">
                <a:solidFill>
                  <a:srgbClr val="10243D"/>
                </a:solidFill>
                <a:latin typeface="Calibri"/>
              </a:rPr>
              <a:t>Predecir</a:t>
            </a:r>
            <a:r>
              <a:rPr sz="2600" b="1" dirty="0">
                <a:solidFill>
                  <a:srgbClr val="10243D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0243D"/>
                </a:solidFill>
                <a:latin typeface="Calibri"/>
              </a:rPr>
              <a:t>si</a:t>
            </a:r>
            <a:r>
              <a:rPr sz="2600" b="1" dirty="0">
                <a:solidFill>
                  <a:srgbClr val="10243D"/>
                </a:solidFill>
                <a:latin typeface="Calibri"/>
              </a:rPr>
              <a:t> un </a:t>
            </a:r>
            <a:r>
              <a:rPr sz="2600" b="1" dirty="0" err="1">
                <a:solidFill>
                  <a:srgbClr val="10243D"/>
                </a:solidFill>
                <a:latin typeface="Calibri"/>
              </a:rPr>
              <a:t>solicitante</a:t>
            </a:r>
            <a:r>
              <a:rPr sz="2600" b="1" dirty="0">
                <a:solidFill>
                  <a:srgbClr val="10243D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0243D"/>
                </a:solidFill>
                <a:latin typeface="Calibri"/>
              </a:rPr>
              <a:t>incurrirá</a:t>
            </a:r>
            <a:r>
              <a:rPr sz="2600" b="1" dirty="0">
                <a:solidFill>
                  <a:srgbClr val="10243D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0243D"/>
                </a:solidFill>
                <a:latin typeface="Calibri"/>
              </a:rPr>
              <a:t>en</a:t>
            </a:r>
            <a:r>
              <a:rPr sz="2600" b="1" dirty="0">
                <a:solidFill>
                  <a:srgbClr val="10243D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0243D"/>
                </a:solidFill>
                <a:latin typeface="Calibri"/>
              </a:rPr>
              <a:t>incumplimiento</a:t>
            </a:r>
            <a:r>
              <a:rPr sz="2600" b="1" dirty="0">
                <a:solidFill>
                  <a:srgbClr val="10243D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0243D"/>
                </a:solidFill>
                <a:latin typeface="Calibri"/>
              </a:rPr>
              <a:t>durante</a:t>
            </a:r>
            <a:r>
              <a:rPr sz="2600" b="1" dirty="0">
                <a:solidFill>
                  <a:srgbClr val="10243D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0243D"/>
                </a:solidFill>
                <a:latin typeface="Calibri"/>
              </a:rPr>
              <a:t>los</a:t>
            </a:r>
            <a:r>
              <a:rPr sz="2600" b="1" dirty="0">
                <a:solidFill>
                  <a:srgbClr val="10243D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0243D"/>
                </a:solidFill>
                <a:latin typeface="Calibri"/>
              </a:rPr>
              <a:t>siguientes</a:t>
            </a:r>
            <a:r>
              <a:rPr sz="2600" b="1" dirty="0">
                <a:solidFill>
                  <a:srgbClr val="10243D"/>
                </a:solidFill>
                <a:latin typeface="Calibri"/>
              </a:rPr>
              <a:t> 12 meses.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050791"/>
            <a:ext cx="6217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7087"/>
                </a:solidFill>
                <a:latin typeface="Calibri"/>
              </a:rPr>
              <a:t>A partir de información financiera y características de la solicitud de crédito.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7264" y="1618488"/>
            <a:ext cx="3739896" cy="3474720"/>
          </a:xfrm>
          <a:prstGeom prst="roundRect">
            <a:avLst/>
          </a:prstGeom>
          <a:solidFill>
            <a:srgbClr val="EDF3FB"/>
          </a:solidFill>
          <a:ln w="1016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47304" y="1883664"/>
            <a:ext cx="311810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9D91"/>
                </a:solidFill>
                <a:latin typeface="Calibri"/>
              </a:rPr>
              <a:t>CONTEXTO DEL CASO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2350008"/>
            <a:ext cx="3044952" cy="1298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30" b="1">
                <a:solidFill>
                  <a:srgbClr val="10243D"/>
                </a:solidFill>
                <a:latin typeface="Calibri"/>
              </a:rPr>
              <a:t>Una institución financiera desea apoyar el análisis de las solicitudes mediante un modelo predictivo.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3959352"/>
            <a:ext cx="3044952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97087"/>
                </a:solidFill>
                <a:latin typeface="Calibri"/>
              </a:rPr>
              <a:t>Enfoque académico: comparar clasificadores y estudiar el impacto de falsos positivos y falsos negativos.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5394960"/>
            <a:ext cx="5358384" cy="640080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08192" y="5394960"/>
            <a:ext cx="5449824" cy="640080"/>
          </a:xfrm>
          <a:prstGeom prst="roundRect">
            <a:avLst/>
          </a:prstGeom>
          <a:solidFill>
            <a:srgbClr val="ED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5582412"/>
            <a:ext cx="48097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10243D"/>
                </a:solidFill>
                <a:latin typeface="Calibri"/>
              </a:rPr>
              <a:t>0   →   Sin incumplimiento a 12 meses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5582412"/>
            <a:ext cx="496519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10243D"/>
                </a:solidFill>
                <a:latin typeface="Calibri"/>
              </a:rPr>
              <a:t>1   →   Incumplimiento a 12 meses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47472"/>
            <a:ext cx="10058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0F9D91"/>
                </a:solidFill>
                <a:latin typeface="Calibri"/>
              </a:rPr>
              <a:t>ESTRUCTURA DEL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243D"/>
                </a:solidFill>
                <a:latin typeface="Calibri"/>
              </a:rPr>
              <a:t>Diccionario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79576"/>
            <a:ext cx="109728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597087"/>
                </a:solidFill>
                <a:latin typeface="Calibri"/>
              </a:rPr>
              <a:t>16 variables: 14 predictoras · 1 identificador excluido · 1 variable objetivo.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55080"/>
            <a:ext cx="10981944" cy="0"/>
          </a:xfrm>
          <a:prstGeom prst="line">
            <a:avLst/>
          </a:prstGeom>
          <a:ln w="1143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455664"/>
            <a:ext cx="4572000" cy="1554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597087"/>
                </a:solidFill>
                <a:latin typeface="Calibri"/>
              </a:rPr>
              <a:t>UCE  ·  MINERÍA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43616" y="6443776"/>
            <a:ext cx="9144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97087"/>
                </a:solidFill>
                <a:latin typeface="Calibri"/>
              </a:rPr>
              <a:t>03 /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45920"/>
            <a:ext cx="5486400" cy="420624"/>
          </a:xfrm>
          <a:prstGeom prst="roundRect">
            <a:avLst/>
          </a:prstGeom>
          <a:solidFill>
            <a:srgbClr val="1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760220"/>
            <a:ext cx="1883664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8044" y="1760220"/>
            <a:ext cx="905256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3884" y="1760220"/>
            <a:ext cx="2359152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066544"/>
            <a:ext cx="5486400" cy="490118"/>
          </a:xfrm>
          <a:prstGeom prst="roundRect">
            <a:avLst/>
          </a:prstGeom>
          <a:solidFill>
            <a:srgbClr val="DF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139696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applicant_id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130552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97087"/>
                </a:solidFill>
                <a:latin typeface="Calibri"/>
              </a:rPr>
              <a:t>Texto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112264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Identificador anonimizado. No predictor.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571292"/>
            <a:ext cx="5486400" cy="490118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2644444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2635300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97087"/>
                </a:solidFill>
                <a:latin typeface="Calibri"/>
              </a:rPr>
              <a:t>Numérica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617012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Edad del solicitante (años).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076041"/>
            <a:ext cx="5486400" cy="49011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3149193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monthly_income_usd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3140049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97087"/>
                </a:solidFill>
                <a:latin typeface="Calibri"/>
              </a:rPr>
              <a:t>Numérica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121761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Ingreso mensual en USD.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580790"/>
            <a:ext cx="5486400" cy="490118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3653942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employment_years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3472" y="3644798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97087"/>
                </a:solidFill>
                <a:latin typeface="Calibri"/>
              </a:rPr>
              <a:t>Numérica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9312" y="3626510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Permanencia laboral (años).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085539"/>
            <a:ext cx="5486400" cy="49011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4158691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employment_type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3472" y="4149547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97087"/>
                </a:solidFill>
                <a:latin typeface="Calibri"/>
              </a:rPr>
              <a:t>Categórica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9312" y="4131259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Dependiente, independiente, temporal o jubilado.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590288"/>
            <a:ext cx="5486400" cy="490118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" y="4663440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housing_status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33472" y="4654296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97087"/>
                </a:solidFill>
                <a:latin typeface="Calibri"/>
              </a:rPr>
              <a:t>Categórica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9312" y="4636007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Vivienda propia, arrendada o familiar.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095036"/>
            <a:ext cx="5486400" cy="49011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" y="5168188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credit_amount_usd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33472" y="5159044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97087"/>
                </a:solidFill>
                <a:latin typeface="Calibri"/>
              </a:rPr>
              <a:t>Numérica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9312" y="5140756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Monto solicitado (USD).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599785"/>
            <a:ext cx="5486400" cy="490118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" y="5672937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term_months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33472" y="5663793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4" b="0">
                <a:solidFill>
                  <a:srgbClr val="597087"/>
                </a:solidFill>
                <a:latin typeface="Calibri"/>
              </a:rPr>
              <a:t>Num. discreta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39312" y="5645505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Plazo en meses.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17336" y="1645920"/>
            <a:ext cx="5486400" cy="420624"/>
          </a:xfrm>
          <a:prstGeom prst="roundRect">
            <a:avLst/>
          </a:prstGeom>
          <a:solidFill>
            <a:srgbClr val="1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27064" y="1760220"/>
            <a:ext cx="1883664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020" y="1760220"/>
            <a:ext cx="905256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6860" y="1760220"/>
            <a:ext cx="2359152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17336" y="2066544"/>
            <a:ext cx="5486400" cy="49011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17920" y="2139696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5" b="1">
                <a:solidFill>
                  <a:srgbClr val="10243D"/>
                </a:solidFill>
                <a:latin typeface="Calibri"/>
              </a:rPr>
              <a:t>debt_to_income_ratio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56448" y="2130552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97087"/>
                </a:solidFill>
                <a:latin typeface="Calibri"/>
              </a:rPr>
              <a:t>Numérica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62288" y="2112264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Obligaciones de deuda / ingreso.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17336" y="2571292"/>
            <a:ext cx="5486400" cy="490118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17920" y="2644444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credit_utilization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6448" y="2635300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97087"/>
                </a:solidFill>
                <a:latin typeface="Calibri"/>
              </a:rPr>
              <a:t>Numérica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2288" y="2617012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Uso del crédito disponible (0–1).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17336" y="3076041"/>
            <a:ext cx="5486400" cy="49011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17920" y="3149193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late_payments_12m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56448" y="3140049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4" b="0">
                <a:solidFill>
                  <a:srgbClr val="597087"/>
                </a:solidFill>
                <a:latin typeface="Calibri"/>
              </a:rPr>
              <a:t>Num. discreta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62288" y="3121761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Pagos atrasados últimos 12 meses.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17336" y="3580790"/>
            <a:ext cx="5486400" cy="490118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17920" y="3653942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open_credits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56448" y="3644798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4" b="0">
                <a:solidFill>
                  <a:srgbClr val="597087"/>
                </a:solidFill>
                <a:latin typeface="Calibri"/>
              </a:rPr>
              <a:t>Num. discreta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62288" y="3626510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Cantidad de créditos abiertos.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17336" y="4085539"/>
            <a:ext cx="5486400" cy="49011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17920" y="4158691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savings_usd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56448" y="4149547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97087"/>
                </a:solidFill>
                <a:latin typeface="Calibri"/>
              </a:rPr>
              <a:t>Numérica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62288" y="4131259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Ahorros declarados (USD).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17336" y="4590288"/>
            <a:ext cx="5486400" cy="490118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17920" y="4663440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loan_purpose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56448" y="4654296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97087"/>
                </a:solidFill>
                <a:latin typeface="Calibri"/>
              </a:rPr>
              <a:t>Categórica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62288" y="4636007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Destino declarado del crédito.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17336" y="5095036"/>
            <a:ext cx="5486400" cy="49011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17920" y="5168188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has_guarantor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56448" y="5159044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597087"/>
                </a:solidFill>
                <a:latin typeface="Calibri"/>
              </a:rPr>
              <a:t>Binaria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62288" y="5140756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1 con garante; 0 sin garante.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17336" y="5599785"/>
            <a:ext cx="5486400" cy="490118"/>
          </a:xfrm>
          <a:prstGeom prst="roundRect">
            <a:avLst/>
          </a:prstGeom>
          <a:solidFill>
            <a:srgbClr val="DF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17920" y="5672937"/>
            <a:ext cx="1847088" cy="3767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0243D"/>
                </a:solidFill>
                <a:latin typeface="Calibri"/>
              </a:rPr>
              <a:t>default_12m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56448" y="5663793"/>
            <a:ext cx="950976" cy="3950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4" b="0">
                <a:solidFill>
                  <a:srgbClr val="597087"/>
                </a:solidFill>
                <a:latin typeface="Calibri"/>
              </a:rPr>
              <a:t>Objetivo binario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62288" y="5645505"/>
            <a:ext cx="2350008" cy="427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5" b="0">
                <a:solidFill>
                  <a:srgbClr val="17283C"/>
                </a:solidFill>
                <a:latin typeface="Calibri"/>
              </a:rPr>
              <a:t>1 incumple; 0 no incumple.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47472"/>
            <a:ext cx="10058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0F9D91"/>
                </a:solidFill>
                <a:latin typeface="Calibri"/>
              </a:rPr>
              <a:t>RUTA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243D"/>
                </a:solidFill>
                <a:latin typeface="Calibri"/>
              </a:rPr>
              <a:t>Los 12 puntos del caso práctico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79576"/>
            <a:ext cx="109728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597087"/>
                </a:solidFill>
                <a:latin typeface="Calibri"/>
              </a:rPr>
              <a:t>Secuencia de trabajo solicitada en las instrucciones del documento.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55080"/>
            <a:ext cx="10981944" cy="0"/>
          </a:xfrm>
          <a:prstGeom prst="line">
            <a:avLst/>
          </a:prstGeom>
          <a:ln w="1143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455664"/>
            <a:ext cx="4572000" cy="1554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597087"/>
                </a:solidFill>
                <a:latin typeface="Calibri"/>
              </a:rPr>
              <a:t>UCE  ·  MINERÍA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43616" y="6443776"/>
            <a:ext cx="9144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97087"/>
                </a:solidFill>
                <a:latin typeface="Calibri"/>
              </a:rPr>
              <a:t>04 /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600200"/>
            <a:ext cx="5413248" cy="2075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2648" y="1600200"/>
            <a:ext cx="5413248" cy="384048"/>
          </a:xfrm>
          <a:prstGeom prst="roundRect">
            <a:avLst/>
          </a:prstGeom>
          <a:solidFill>
            <a:srgbClr val="1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692554"/>
            <a:ext cx="50292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01  ·  DATOS Y EXPLORACIÓN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25980"/>
            <a:ext cx="365760" cy="338328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" y="2217420"/>
            <a:ext cx="30175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0F9D91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06777"/>
            <a:ext cx="449884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83C"/>
                </a:solidFill>
                <a:latin typeface="Calibri"/>
              </a:rPr>
              <a:t>Cargar el CSV; revisar dimensiones, tipos, duplicados y faltantes.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28900"/>
            <a:ext cx="365760" cy="338328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" y="2720340"/>
            <a:ext cx="30175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0F9D91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09697"/>
            <a:ext cx="449884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83C"/>
                </a:solidFill>
                <a:latin typeface="Calibri"/>
              </a:rPr>
              <a:t>Explorar la clase, estadísticas, frecuencias, outliers y relaciones.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131820"/>
            <a:ext cx="365760" cy="338328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" y="3223260"/>
            <a:ext cx="30175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0F9D91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12617"/>
            <a:ext cx="449884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83C"/>
                </a:solidFill>
                <a:latin typeface="Calibri"/>
              </a:rPr>
              <a:t>Separar X e y; excluir applicant_id y justificar exclusiones.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600200"/>
            <a:ext cx="5413248" cy="2075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63056" y="1600200"/>
            <a:ext cx="5413248" cy="384048"/>
          </a:xfrm>
          <a:prstGeom prst="roundRect">
            <a:avLst/>
          </a:prstGeom>
          <a:solidFill>
            <a:srgbClr val="1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45936" y="1692554"/>
            <a:ext cx="50292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02  ·  PREPARACIÓN Y MODELOS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2125980"/>
            <a:ext cx="365760" cy="338328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9652" y="2217420"/>
            <a:ext cx="30175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0F9D91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2106777"/>
            <a:ext cx="449884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83C"/>
                </a:solidFill>
                <a:latin typeface="Calibri"/>
              </a:rPr>
              <a:t>Holdout estratificado: 80 % train y 20 % test; aislar test.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2628900"/>
            <a:ext cx="365760" cy="338328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9652" y="2720340"/>
            <a:ext cx="30175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0F9D91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2609697"/>
            <a:ext cx="449884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83C"/>
                </a:solidFill>
                <a:latin typeface="Calibri"/>
              </a:rPr>
              <a:t>Pipeline/ColumnTransformer; One-Hot y StandardScaler si aplica.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3131820"/>
            <a:ext cx="365760" cy="338328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9652" y="3223260"/>
            <a:ext cx="30175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0F9D91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3112617"/>
            <a:ext cx="449884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83C"/>
                </a:solidFill>
                <a:latin typeface="Calibri"/>
              </a:rPr>
              <a:t>Comparar Logística, Árbol, Random Forest y Gradient Boosting.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" y="3840480"/>
            <a:ext cx="5413248" cy="2075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12648" y="3840480"/>
            <a:ext cx="5413248" cy="384048"/>
          </a:xfrm>
          <a:prstGeom prst="roundRect">
            <a:avLst/>
          </a:prstGeom>
          <a:solidFill>
            <a:srgbClr val="1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8" y="3932834"/>
            <a:ext cx="50292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03  ·  VALIDACIÓN Y SELECCIÓN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366259"/>
            <a:ext cx="365760" cy="338328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9244" y="4457700"/>
            <a:ext cx="30175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0F9D91"/>
                </a:solidFill>
                <a:latin typeface="Calibr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347057"/>
            <a:ext cx="449884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83C"/>
                </a:solidFill>
                <a:latin typeface="Calibri"/>
              </a:rPr>
              <a:t>StratifiedKFold de 5 folds; transformar y ajustar dentro de CV.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869179"/>
            <a:ext cx="365760" cy="338328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9244" y="4960620"/>
            <a:ext cx="30175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0F9D91"/>
                </a:solidFill>
                <a:latin typeface="Calibri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4849977"/>
            <a:ext cx="449884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83C"/>
                </a:solidFill>
                <a:latin typeface="Calibri"/>
              </a:rPr>
              <a:t>Reportar Precision, Recall, F1, ROC-AUC, PR-AUC y confusión.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372099"/>
            <a:ext cx="365760" cy="338328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9244" y="5463540"/>
            <a:ext cx="30175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0F9D91"/>
                </a:solidFill>
                <a:latin typeface="Calibri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352897"/>
            <a:ext cx="449884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83C"/>
                </a:solidFill>
                <a:latin typeface="Calibri"/>
              </a:rPr>
              <a:t>Seleccionar por CV en train y analizar costos de errores.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63056" y="3840480"/>
            <a:ext cx="5413248" cy="2075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163056" y="3840480"/>
            <a:ext cx="5413248" cy="384048"/>
          </a:xfrm>
          <a:prstGeom prst="roundRect">
            <a:avLst/>
          </a:prstGeom>
          <a:solidFill>
            <a:srgbClr val="1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45936" y="3932834"/>
            <a:ext cx="50292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04  ·  PRUEBA Y CONCLUSIONES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27648" y="4366259"/>
            <a:ext cx="365760" cy="338328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59652" y="4457700"/>
            <a:ext cx="30175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0F9D91"/>
                </a:solidFill>
                <a:latin typeface="Calibr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0568" y="4347057"/>
            <a:ext cx="449884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83C"/>
                </a:solidFill>
                <a:latin typeface="Calibri"/>
              </a:rPr>
              <a:t>Reentrenar con todo train y evaluar test una sola vez.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27648" y="4869179"/>
            <a:ext cx="365760" cy="338328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59652" y="4960620"/>
            <a:ext cx="30175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0F9D91"/>
                </a:solidFill>
                <a:latin typeface="Calibri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0568" y="4849977"/>
            <a:ext cx="449884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83C"/>
                </a:solidFill>
                <a:latin typeface="Calibri"/>
              </a:rPr>
              <a:t>Comparar CV/test, sobreajuste y falsos positivos/negativos.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27648" y="5372099"/>
            <a:ext cx="365760" cy="338328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59652" y="5463540"/>
            <a:ext cx="30175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0F9D91"/>
                </a:solidFill>
                <a:latin typeface="Calibri"/>
              </a:rP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0568" y="5352897"/>
            <a:ext cx="449884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7283C"/>
                </a:solidFill>
                <a:latin typeface="Calibri"/>
              </a:rPr>
              <a:t>Concluir desempeño y límites; no decidir créditos automáticamente.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8744" y="477012"/>
            <a:ext cx="10058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dirty="0">
                <a:solidFill>
                  <a:srgbClr val="0F9D91"/>
                </a:solidFill>
                <a:latin typeface="Calibri"/>
              </a:rPr>
              <a:t>ACCESO A LA DEMOSTRACIÓN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57917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dirty="0">
                <a:solidFill>
                  <a:srgbClr val="10243D"/>
                </a:solidFill>
                <a:latin typeface="Calibri"/>
              </a:rPr>
              <a:t>Dashboard y </a:t>
            </a:r>
            <a:r>
              <a:rPr sz="2900" b="1" dirty="0" err="1">
                <a:solidFill>
                  <a:srgbClr val="10243D"/>
                </a:solidFill>
                <a:latin typeface="Calibri"/>
              </a:rPr>
              <a:t>repositorio</a:t>
            </a:r>
            <a:endParaRPr sz="2900" b="1" dirty="0">
              <a:solidFill>
                <a:srgbClr val="10243D"/>
              </a:solidFill>
              <a:latin typeface="Calibri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6355080"/>
            <a:ext cx="10981944" cy="0"/>
          </a:xfrm>
          <a:prstGeom prst="line">
            <a:avLst/>
          </a:prstGeom>
          <a:ln w="1143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455664"/>
            <a:ext cx="4572000" cy="1554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597087"/>
                </a:solidFill>
                <a:latin typeface="Calibri"/>
              </a:rPr>
              <a:t>UCE  ·  MINERÍA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43616" y="6443776"/>
            <a:ext cx="9144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97087"/>
                </a:solidFill>
                <a:latin typeface="Calibri"/>
              </a:rPr>
              <a:t>05 /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591055"/>
            <a:ext cx="10104120" cy="450902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0">
            <a:extLst>
              <a:ext uri="{FF2B5EF4-FFF2-40B4-BE49-F238E27FC236}">
                <a16:creationId xmlns:a16="http://schemas.microsoft.com/office/drawing/2014/main" id="{56A228FF-A047-99BF-F687-FB2073D5B26A}"/>
              </a:ext>
            </a:extLst>
          </p:cNvPr>
          <p:cNvSpPr/>
          <p:nvPr/>
        </p:nvSpPr>
        <p:spPr>
          <a:xfrm>
            <a:off x="4114184" y="1948688"/>
            <a:ext cx="3789228" cy="3479292"/>
          </a:xfrm>
          <a:prstGeom prst="roundRect">
            <a:avLst/>
          </a:prstGeom>
          <a:solidFill>
            <a:srgbClr val="F8FBFD"/>
          </a:solidFill>
          <a:ln w="13970">
            <a:solidFill>
              <a:srgbClr val="C9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343" y="2099741"/>
            <a:ext cx="283464" cy="41148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343" y="2099741"/>
            <a:ext cx="41148" cy="283464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71306" y="2099741"/>
            <a:ext cx="283464" cy="41148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13622" y="2099741"/>
            <a:ext cx="41148" cy="283464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70343" y="5193792"/>
            <a:ext cx="283464" cy="41148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343" y="4910328"/>
            <a:ext cx="41148" cy="283464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71306" y="5193792"/>
            <a:ext cx="283464" cy="41148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13622" y="4910328"/>
            <a:ext cx="41148" cy="283464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14FE0797-EBD1-791F-8F9D-0602125A5B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98" t="27035" r="22264" b="17391"/>
          <a:stretch/>
        </p:blipFill>
        <p:spPr>
          <a:xfrm>
            <a:off x="4429374" y="2178976"/>
            <a:ext cx="3158848" cy="2989415"/>
          </a:xfrm>
          <a:prstGeom prst="rect">
            <a:avLst/>
          </a:prstGeom>
        </p:spPr>
      </p:pic>
      <p:sp>
        <p:nvSpPr>
          <p:cNvPr id="28" name="Instrucción acceso">
            <a:extLst>
              <a:ext uri="{FF2B5EF4-FFF2-40B4-BE49-F238E27FC236}">
                <a16:creationId xmlns:a16="http://schemas.microsoft.com/office/drawing/2014/main" id="{20618967-2F1B-E4E3-060C-544C94767F68}"/>
              </a:ext>
            </a:extLst>
          </p:cNvPr>
          <p:cNvSpPr txBox="1"/>
          <p:nvPr/>
        </p:nvSpPr>
        <p:spPr>
          <a:xfrm>
            <a:off x="3749039" y="5443347"/>
            <a:ext cx="4709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475D74"/>
                </a:solidFill>
                <a:latin typeface="Aptos"/>
              </a:rPr>
              <a:t>Haz </a:t>
            </a:r>
            <a:r>
              <a:rPr sz="1200" dirty="0" err="1">
                <a:solidFill>
                  <a:srgbClr val="475D74"/>
                </a:solidFill>
                <a:latin typeface="Aptos"/>
              </a:rPr>
              <a:t>clic</a:t>
            </a:r>
            <a:r>
              <a:rPr sz="1200" dirty="0">
                <a:solidFill>
                  <a:srgbClr val="475D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475D74"/>
                </a:solidFill>
                <a:latin typeface="Aptos"/>
              </a:rPr>
              <a:t>en</a:t>
            </a:r>
            <a:r>
              <a:rPr sz="1200" dirty="0">
                <a:solidFill>
                  <a:srgbClr val="475D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475D74"/>
                </a:solidFill>
                <a:latin typeface="Aptos"/>
              </a:rPr>
              <a:t>el</a:t>
            </a:r>
            <a:r>
              <a:rPr sz="1200" dirty="0">
                <a:solidFill>
                  <a:srgbClr val="475D74"/>
                </a:solidFill>
                <a:latin typeface="Aptos"/>
              </a:rPr>
              <a:t> enlace para </a:t>
            </a:r>
            <a:r>
              <a:rPr sz="1200" dirty="0" err="1">
                <a:solidFill>
                  <a:srgbClr val="475D74"/>
                </a:solidFill>
                <a:latin typeface="Aptos"/>
              </a:rPr>
              <a:t>abrir</a:t>
            </a:r>
            <a:r>
              <a:rPr sz="1200" dirty="0">
                <a:solidFill>
                  <a:srgbClr val="475D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475D74"/>
                </a:solidFill>
                <a:latin typeface="Aptos"/>
              </a:rPr>
              <a:t>el</a:t>
            </a:r>
            <a:r>
              <a:rPr sz="1200" dirty="0">
                <a:solidFill>
                  <a:srgbClr val="475D74"/>
                </a:solidFill>
                <a:latin typeface="Aptos"/>
              </a:rPr>
              <a:t> dashboard</a:t>
            </a:r>
          </a:p>
        </p:txBody>
      </p:sp>
      <p:sp>
        <p:nvSpPr>
          <p:cNvPr id="29" name="Enlace activo GitHub Pages">
            <a:extLst>
              <a:ext uri="{FF2B5EF4-FFF2-40B4-BE49-F238E27FC236}">
                <a16:creationId xmlns:a16="http://schemas.microsoft.com/office/drawing/2014/main" id="{2426465F-9EFE-012B-1BD2-E558A8A1ED49}"/>
              </a:ext>
            </a:extLst>
          </p:cNvPr>
          <p:cNvSpPr txBox="1"/>
          <p:nvPr/>
        </p:nvSpPr>
        <p:spPr>
          <a:xfrm>
            <a:off x="1618488" y="5690235"/>
            <a:ext cx="896112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u="sng" dirty="0">
                <a:solidFill>
                  <a:srgbClr val="00918E"/>
                </a:solidFill>
                <a:latin typeface="Aptos"/>
                <a:hlinkClick r:id="rId3"/>
              </a:rPr>
              <a:t>https://proanodaniel10.github.io/Caso-1-Riesgo-Crediticio/</a:t>
            </a:r>
          </a:p>
        </p:txBody>
      </p:sp>
      <p:sp>
        <p:nvSpPr>
          <p:cNvPr id="30" name="TextBox 4">
            <a:extLst>
              <a:ext uri="{FF2B5EF4-FFF2-40B4-BE49-F238E27FC236}">
                <a16:creationId xmlns:a16="http://schemas.microsoft.com/office/drawing/2014/main" id="{7430C83C-5F30-47CC-501D-A5C4FB28434B}"/>
              </a:ext>
            </a:extLst>
          </p:cNvPr>
          <p:cNvSpPr txBox="1"/>
          <p:nvPr/>
        </p:nvSpPr>
        <p:spPr>
          <a:xfrm>
            <a:off x="603504" y="1179576"/>
            <a:ext cx="109728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dirty="0">
                <a:solidFill>
                  <a:srgbClr val="597087"/>
                </a:solidFill>
                <a:latin typeface="Calibri"/>
              </a:rPr>
              <a:t>Accede a la </a:t>
            </a:r>
            <a:r>
              <a:rPr sz="1170" b="0" dirty="0" err="1">
                <a:solidFill>
                  <a:srgbClr val="597087"/>
                </a:solidFill>
                <a:latin typeface="Calibri"/>
              </a:rPr>
              <a:t>demostración</a:t>
            </a:r>
            <a:r>
              <a:rPr sz="1170" b="0" dirty="0">
                <a:solidFill>
                  <a:srgbClr val="597087"/>
                </a:solidFill>
                <a:latin typeface="Calibri"/>
              </a:rPr>
              <a:t> </a:t>
            </a:r>
            <a:r>
              <a:rPr sz="1170" b="0" dirty="0" err="1">
                <a:solidFill>
                  <a:srgbClr val="597087"/>
                </a:solidFill>
                <a:latin typeface="Calibri"/>
              </a:rPr>
              <a:t>interactiva</a:t>
            </a:r>
            <a:r>
              <a:rPr sz="1170" b="0" dirty="0">
                <a:solidFill>
                  <a:srgbClr val="597087"/>
                </a:solidFill>
                <a:latin typeface="Calibri"/>
              </a:rPr>
              <a:t> del </a:t>
            </a:r>
            <a:r>
              <a:rPr sz="1170" b="0" dirty="0" err="1">
                <a:solidFill>
                  <a:srgbClr val="597087"/>
                </a:solidFill>
                <a:latin typeface="Calibri"/>
              </a:rPr>
              <a:t>caso</a:t>
            </a:r>
            <a:r>
              <a:rPr sz="1170" b="0" dirty="0">
                <a:solidFill>
                  <a:srgbClr val="597087"/>
                </a:solidFill>
                <a:latin typeface="Calibri"/>
              </a:rPr>
              <a:t> de </a:t>
            </a:r>
            <a:r>
              <a:rPr sz="1170" b="0" dirty="0" err="1">
                <a:solidFill>
                  <a:srgbClr val="597087"/>
                </a:solidFill>
                <a:latin typeface="Calibri"/>
              </a:rPr>
              <a:t>riesgo</a:t>
            </a:r>
            <a:r>
              <a:rPr sz="1170" b="0" dirty="0">
                <a:solidFill>
                  <a:srgbClr val="597087"/>
                </a:solidFill>
                <a:latin typeface="Calibri"/>
              </a:rPr>
              <a:t> </a:t>
            </a:r>
            <a:r>
              <a:rPr sz="1170" b="0" dirty="0" err="1">
                <a:solidFill>
                  <a:srgbClr val="597087"/>
                </a:solidFill>
                <a:latin typeface="Calibri"/>
              </a:rPr>
              <a:t>crediticio</a:t>
            </a:r>
            <a:r>
              <a:rPr sz="1170" b="0" dirty="0">
                <a:solidFill>
                  <a:srgbClr val="597087"/>
                </a:solidFill>
                <a:latin typeface="Calibri"/>
              </a:rPr>
              <a:t> </a:t>
            </a:r>
            <a:r>
              <a:rPr sz="1170" b="0" dirty="0" err="1">
                <a:solidFill>
                  <a:srgbClr val="597087"/>
                </a:solidFill>
                <a:latin typeface="Calibri"/>
              </a:rPr>
              <a:t>en</a:t>
            </a:r>
            <a:r>
              <a:rPr sz="1170" b="0" dirty="0">
                <a:solidFill>
                  <a:srgbClr val="597087"/>
                </a:solidFill>
                <a:latin typeface="Calibri"/>
              </a:rPr>
              <a:t> GitHub Pages.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754</Words>
  <Application>Microsoft Office PowerPoint</Application>
  <PresentationFormat>Panorámica</PresentationFormat>
  <Paragraphs>138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1: Predicción de incumplimiento crediticio</dc:title>
  <dc:subject>Minería de Datos - Clasificación supervisada y evaluación de modelos</dc:subject>
  <dc:creator>Presentación elaborada a partir del PDF proporcionado</dc:creator>
  <cp:keywords/>
  <dc:description>generated using python-pptx</dc:description>
  <cp:lastModifiedBy>Daniel</cp:lastModifiedBy>
  <cp:revision>4</cp:revision>
  <dcterms:created xsi:type="dcterms:W3CDTF">2013-01-27T09:14:16Z</dcterms:created>
  <dcterms:modified xsi:type="dcterms:W3CDTF">2026-10-25T18:55:07Z</dcterms:modified>
  <cp:category/>
</cp:coreProperties>
</file>